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C83"/>
              </a:solidFill>
              <a:effectLst/>
            </c:spPr>
          </c:dPt>
          <c:dPt>
            <c:idx val="1"/>
            <c:bubble3D val="0"/>
            <c:spPr>
              <a:solidFill>
                <a:srgbClr val="E86A5B"/>
              </a:solidFill>
              <a:effectLst/>
            </c:spPr>
          </c:dPt>
          <c:dPt>
            <c:idx val="2"/>
            <c:bubble3D val="0"/>
            <c:spPr>
              <a:solidFill>
                <a:srgbClr val="F3B562"/>
              </a:solidFill>
              <a:effectLst/>
            </c:spPr>
          </c:dPt>
          <c:dPt>
            <c:idx val="3"/>
            <c:bubble3D val="0"/>
            <c:spPr>
              <a:solidFill>
                <a:srgbClr val="6C8E8E"/>
              </a:solidFill>
              <a:effectLst/>
            </c:spPr>
          </c:dPt>
          <c:dPt>
            <c:idx val="4"/>
            <c:bubble3D val="0"/>
            <c:spPr>
              <a:solidFill>
                <a:srgbClr val="A9C5BA"/>
              </a:solidFill>
              <a:effectLst/>
            </c:spPr>
          </c:dPt>
          <c:dPt>
            <c:idx val="5"/>
            <c:bubble3D val="0"/>
            <c:spPr>
              <a:solidFill>
                <a:srgbClr val="9A7B67"/>
              </a:solidFill>
              <a:effectLst/>
            </c:spPr>
          </c:dPt>
          <c:dPt>
            <c:idx val="6"/>
            <c:bubble3D val="0"/>
            <c:spPr>
              <a:solidFill>
                <a:srgbClr val="496A81"/>
              </a:solidFill>
              <a:effectLst/>
            </c:spPr>
          </c:dPt>
          <c:dPt>
            <c:idx val="7"/>
            <c:bubble3D val="0"/>
            <c:spPr>
              <a:solidFill>
                <a:srgbClr val="CBD5D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Vuelos Madrid–Azores–Madrid</c:v>
                </c:pt>
                <c:pt idx="1">
                  <c:v>Vuelo regional entre islas</c:v>
                </c:pt>
                <c:pt idx="2">
                  <c:v>Alojamiento, 7 noches</c:v>
                </c:pt>
                <c:pt idx="3">
                  <c:v>Coches de alquiler y combustible</c:v>
                </c:pt>
                <c:pt idx="4">
                  <c:v>Comidas</c:v>
                </c:pt>
                <c:pt idx="5">
                  <c:v>Termas, excursiones y actividades</c:v>
                </c:pt>
                <c:pt idx="6">
                  <c:v>Seguro de viaje</c:v>
                </c:pt>
                <c:pt idx="7">
                  <c:v>Contingencia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1500</c:v>
                </c:pt>
                <c:pt idx="1">
                  <c:v>260</c:v>
                </c:pt>
                <c:pt idx="2">
                  <c:v>1450</c:v>
                </c:pt>
                <c:pt idx="3">
                  <c:v>750</c:v>
                </c:pt>
                <c:pt idx="4">
                  <c:v>780</c:v>
                </c:pt>
                <c:pt idx="5">
                  <c:v>350</c:v>
                </c:pt>
                <c:pt idx="6">
                  <c:v>110</c:v>
                </c:pt>
                <c:pt idx="7">
                  <c:v>300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2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243"/>
          </a:solidFill>
          <a:ln w="12700">
            <a:solidFill>
              <a:srgbClr val="1532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FE0D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AZORES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São Miguel + Terceira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7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noches para alternar volcanes, termas, costa y patrimonio atlántico.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1965960" cy="384048"/>
          </a:xfrm>
          <a:prstGeom prst="roundRect">
            <a:avLst>
              <a:gd name="adj" fmla="val 14286"/>
            </a:avLst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507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12–19 OCT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397764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007C83"/>
          </a:solidFill>
          <a:ln w="12700">
            <a:solidFill>
              <a:srgbClr val="007C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40507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viajeros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80960" y="960120"/>
            <a:ext cx="2926080" cy="2926080"/>
          </a:xfrm>
          <a:prstGeom prst="arc">
            <a:avLst/>
          </a:prstGeom>
          <a:noFill/>
          <a:ln w="38100">
            <a:solidFill>
              <a:srgbClr val="E86A5B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1828800"/>
            <a:ext cx="2194560" cy="2194560"/>
          </a:xfrm>
          <a:prstGeom prst="arc">
            <a:avLst/>
          </a:prstGeom>
          <a:noFill/>
          <a:ln w="25400">
            <a:solidFill>
              <a:srgbClr val="8FE0D2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MADRID  →  AZORES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del viaje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combinación compacta y variada, pensada para moverse con coche y dejar margen al tiempo atlántico.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35440" y="566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AZORES  /  12–19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154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noches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São Miguel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Lagunas, Furnas, termas y miradores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154680" cy="2103120"/>
          </a:xfrm>
          <a:prstGeom prst="rect">
            <a:avLst/>
          </a:prstGeom>
          <a:solidFill>
            <a:srgbClr val="D7EEE9"/>
          </a:solidFill>
          <a:ln w="12700">
            <a:solidFill>
              <a:srgbClr val="D6DD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noches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0916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Terceira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Angra, volcanes, costa y gastronomía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1828800"/>
            <a:ext cx="3154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5.000 €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0392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total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Presupuesto orientativo para dos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vuelo interinsular reduce el riesgo logístico frente a depender de una conexión marítima no confirmada.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35440" y="566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AZORES  /  12–19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52728" y="2834640"/>
            <a:ext cx="1691640" cy="0"/>
          </a:xfrm>
          <a:prstGeom prst="line">
            <a:avLst/>
          </a:prstGeom>
          <a:noFill/>
          <a:ln w="25400">
            <a:solidFill>
              <a:srgbClr val="007C8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2450592"/>
            <a:ext cx="960120" cy="777240"/>
          </a:xfrm>
          <a:prstGeom prst="ellipse">
            <a:avLst/>
          </a:prstGeom>
          <a:solidFill>
            <a:srgbClr val="007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01568" y="2834640"/>
            <a:ext cx="1691640" cy="0"/>
          </a:xfrm>
          <a:prstGeom prst="line">
            <a:avLst/>
          </a:prstGeom>
          <a:noFill/>
          <a:ln w="25400">
            <a:solidFill>
              <a:srgbClr val="007C8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2450592"/>
            <a:ext cx="960120" cy="777240"/>
          </a:xfrm>
          <a:prstGeom prst="ellipse">
            <a:avLst/>
          </a:prstGeom>
          <a:solidFill>
            <a:srgbClr val="007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9748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Lisboa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50408" y="2834640"/>
            <a:ext cx="1691640" cy="0"/>
          </a:xfrm>
          <a:prstGeom prst="line">
            <a:avLst/>
          </a:prstGeom>
          <a:noFill/>
          <a:ln w="25400">
            <a:solidFill>
              <a:srgbClr val="E86A5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4920" y="2450592"/>
            <a:ext cx="960120" cy="777240"/>
          </a:xfrm>
          <a:prstGeom prst="ellipse">
            <a:avLst/>
          </a:prstGeom>
          <a:solidFill>
            <a:srgbClr val="E86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Ponta Delgada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99248" y="2834640"/>
            <a:ext cx="1691640" cy="0"/>
          </a:xfrm>
          <a:prstGeom prst="line">
            <a:avLst/>
          </a:prstGeom>
          <a:noFill/>
          <a:ln w="25400">
            <a:solidFill>
              <a:srgbClr val="007C8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2450592"/>
            <a:ext cx="960120" cy="777240"/>
          </a:xfrm>
          <a:prstGeom prst="ellipse">
            <a:avLst/>
          </a:prstGeom>
          <a:solidFill>
            <a:srgbClr val="E86A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Terceira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48088" y="2834640"/>
            <a:ext cx="1691640" cy="0"/>
          </a:xfrm>
          <a:prstGeom prst="line">
            <a:avLst/>
          </a:prstGeom>
          <a:noFill/>
          <a:ln w="25400">
            <a:solidFill>
              <a:srgbClr val="007C8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72600" y="2450592"/>
            <a:ext cx="960120" cy="777240"/>
          </a:xfrm>
          <a:prstGeom prst="ellipse">
            <a:avLst/>
          </a:prstGeom>
          <a:solidFill>
            <a:srgbClr val="007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Lisboa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521440" y="2450592"/>
            <a:ext cx="960120" cy="777240"/>
          </a:xfrm>
          <a:prstGeom prst="ellipse">
            <a:avLst/>
          </a:prstGeom>
          <a:solidFill>
            <a:srgbClr val="007C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21440" y="26791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29284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Madrid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Tramo interinsular: vuelo regional Ponta Delgada → Terceira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Ocho días, dos ritmos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plan deja las actividades de mar y montaña intercambiables según nubosidad, viento y lluvia.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35440" y="566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AZORES  /  12–19 OCT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55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oct., lunes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728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Madrid → Ponta Delgada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57400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Vuelo con escala probable en Lisboa; coche y alojamiento en Ponta Delgada.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755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oct., martes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35240" y="1728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São Miguel: Sete Cidades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do Rei, Lagoa do Canário y tarde libre en Ponta Delgada.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898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oct., miércoles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2871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São Miguel: Lagoa do Fogo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5740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Lagoa do Fogo, Caldeira Velha y Ribeira Grande.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898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oct., jueves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2871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São Miguel: Furnas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3524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Lagoa das Furnas, Terra Nostra y aguas termales.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5074920" cy="841248"/>
          </a:xfrm>
          <a:prstGeom prst="rect">
            <a:avLst/>
          </a:prstGeom>
          <a:solidFill>
            <a:srgbClr val="D7EEE9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041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oct., viernes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57400" y="4014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São Miguel → Terceira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57400" y="4315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Vuelo regional, coche y paseo por Angra do Heroísmo y Monte Brasil.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886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4041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oct., sábado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4014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Terceira interior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35240" y="4315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Algar do Carvão, Furnas do Enxofre y Serra do Cume.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184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oct., domingo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57400" y="5157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Terceira costa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57400" y="5458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Biscoitos, piscinas naturales o cetáceos si la meteorología permite.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5029200"/>
            <a:ext cx="5074920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5184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oct., lunes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35240" y="5157216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Terceira → Madrid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635240" y="5458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Regreso con escala probable; devolver el coche con margen.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Presupuesto bajo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Estimación de trabajo; la disponibilidad real debe cotizarse antes de reservar.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35440" y="566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AZORES  /  12–19 OCT 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55448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874520" y="3127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5500 €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74520" y="36393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estimación total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719072"/>
            <a:ext cx="137160" cy="137160"/>
          </a:xfrm>
          <a:prstGeom prst="rect">
            <a:avLst/>
          </a:prstGeom>
          <a:solidFill>
            <a:srgbClr val="007C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1691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Vuelos Madrid–Azores–Madrid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75520" y="16916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1500 €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295144"/>
            <a:ext cx="137160" cy="137160"/>
          </a:xfrm>
          <a:prstGeom prst="rect">
            <a:avLst/>
          </a:prstGeom>
          <a:solidFill>
            <a:srgbClr val="E86A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2677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Vuelo regional entre islas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0" y="22677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260 €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2871216"/>
            <a:ext cx="137160" cy="137160"/>
          </a:xfrm>
          <a:prstGeom prst="rect">
            <a:avLst/>
          </a:prstGeom>
          <a:solidFill>
            <a:srgbClr val="F3B5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28437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Alojamiento, 7 noches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75520" y="28437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1450 €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3447288"/>
            <a:ext cx="137160" cy="137160"/>
          </a:xfrm>
          <a:prstGeom prst="rect">
            <a:avLst/>
          </a:prstGeom>
          <a:solidFill>
            <a:srgbClr val="6C8E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4198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Coches de alquiler y combustible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0" y="34198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750 €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4023360"/>
            <a:ext cx="137160" cy="137160"/>
          </a:xfrm>
          <a:prstGeom prst="rect">
            <a:avLst/>
          </a:prstGeom>
          <a:solidFill>
            <a:srgbClr val="A9C5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75120" y="39959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Comidas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875520" y="3995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780 €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0" y="4599432"/>
            <a:ext cx="137160" cy="137160"/>
          </a:xfrm>
          <a:prstGeom prst="rect">
            <a:avLst/>
          </a:prstGeom>
          <a:solidFill>
            <a:srgbClr val="9A7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4572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Termas, excursiones y actividades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875520" y="45720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3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6A5B"/>
          </a:solidFill>
          <a:ln w="12700">
            <a:solidFill>
              <a:srgbClr val="E86A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reservar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comprobaciones que convierten la idea en un viaje ejecutable.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35440" y="56692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AZORES  /  12–19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Vuelos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Horarios, escalas y precio final desde Madrid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6916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Maletas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Franquicia incluida en cada tarifa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8160" y="16916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91540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Coches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15400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Seguro, depósito y política de combustible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Tiempo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Previsión de montaña y salidas al mar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3749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2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Flexibilidad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Cancelación y cambios en alojamiento/actividades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DNI o pasaporte válido · euro · roaming UE · seguro recomendado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Plan de viaje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Azores: São Miguel + Terceira</dc:title>
  <dc:subject>Azores: São Miguel + Terceira</dc:subject>
  <dc:creator>Planificador de viajes</dc:creator>
  <cp:lastModifiedBy>Planificador de viajes</cp:lastModifiedBy>
  <cp:revision>1</cp:revision>
  <dcterms:created xsi:type="dcterms:W3CDTF">2026-09-17T15:55:00Z</dcterms:created>
  <dcterms:modified xsi:type="dcterms:W3CDTF">2026-09-17T15:55:00Z</dcterms:modified>
</cp:coreProperties>
</file>